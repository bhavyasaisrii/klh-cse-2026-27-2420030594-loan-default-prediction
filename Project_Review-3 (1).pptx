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</a:rPr>
              <a:t>KLH University, Hyderabad  |  Project Review-3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7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Review-3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960120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Loan Default Prediction Using Banking Analytics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Machine Learning Framework Across Three Public Credit Datasets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48056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Tejasree, B. Sruthi, B. Bhavya Sai Sree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K. Swapnika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University, Hyderabad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and 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94944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default happens when a borrower stops repaying as agreed, and the bank bears the loss.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Defaulted loans that stay unpaid become non-performing assets (NPAs), which reduce a bank’s profit and capital.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credit scoring uses fixed rules and a few variables. It handles non-linear patterns poorly.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alone does not tell the bank why an applicant was rejected.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model must be accurate and also explain its decisions.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63840" y="1280160"/>
            <a:ext cx="3749040" cy="4754880"/>
          </a:xfrm>
          <a:prstGeom prst="rect">
            <a:avLst/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14630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focus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2011680"/>
            <a:ext cx="32918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loan default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ML models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results with SHAP and LIME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and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47472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models are often hard to interpret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use only one dataset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hybrid models are rarely compared on the same 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2801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828800"/>
            <a:ext cx="347472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three public credit datasets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five baseline models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evaluate a hybrid 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predictions with SHAP and LIME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results in a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87952" y="1280160"/>
            <a:ext cx="0" cy="4389120"/>
          </a:xfrm>
          <a:prstGeom prst="line">
            <a:avLst/>
          </a:prstGeom>
          <a:noFill/>
          <a:ln w="12700">
            <a:solidFill>
              <a:srgbClr val="B8C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12801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828800"/>
            <a:ext cx="3474720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 baseline models compare across datasets?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hybrid model improve on them?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drive default risk?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82712" y="1280160"/>
            <a:ext cx="0" cy="4389120"/>
          </a:xfrm>
          <a:prstGeom prst="line">
            <a:avLst/>
          </a:prstGeom>
          <a:noFill/>
          <a:ln w="12700">
            <a:solidFill>
              <a:srgbClr val="B8C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to be matched with the Review-2 slides.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/>
              <a:tblGrid>
                <a:gridCol w="2377440"/>
                <a:gridCol w="5029200"/>
                <a:gridCol w="365760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used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Lending Club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Peer-to-peer loan records with borrower details and repayment status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real-world data for default prediction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Statlog German Credit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Applicants labelled as good or bad credit risk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standard benchmark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Credit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applications from borrowers with limited credit history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features, imbalanced classes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 evaluation: </a:t>
            </a: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datasets differ in size, features, class balance and data quality. Testing each one separately shows whether the models hold up beyond a single dataset.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Methodology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280160"/>
          <a:ext cx="5394960" cy="3017520"/>
        </p:xfrm>
        <a:graphic>
          <a:graphicData uri="http://schemas.openxmlformats.org/drawingml/2006/table">
            <a:tbl>
              <a:tblPr/>
              <a:tblGrid>
                <a:gridCol w="3657600"/>
                <a:gridCol w="173736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Missing-value handling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 of categorical features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 handling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6217920" y="1280160"/>
          <a:ext cx="5394960" cy="2514600"/>
        </p:xfrm>
        <a:graphic>
          <a:graphicData uri="http://schemas.openxmlformats.org/drawingml/2006/table">
            <a:tbl>
              <a:tblPr/>
              <a:tblGrid>
                <a:gridCol w="3657600"/>
                <a:gridCol w="173736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data analysis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training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evaluation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options: Completed / In Progress / Pending. Mark Completed only where output exists.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37744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71800" y="1965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1554480"/>
            <a:ext cx="237744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554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EDA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0" y="1965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554480"/>
            <a:ext cx="237744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32520" y="1965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89720" y="1554480"/>
            <a:ext cx="237744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554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Training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89720" y="3840480"/>
            <a:ext cx="2377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3840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Hybrid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flipH="1">
            <a:off x="8732520" y="4251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840480"/>
            <a:ext cx="2377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840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flipH="1">
            <a:off x="5852160" y="4251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3840480"/>
            <a:ext cx="2377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3840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/ LIME Explainability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flipH="1">
            <a:off x="2971800" y="4251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840480"/>
            <a:ext cx="2377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84048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49840" y="2834640"/>
            <a:ext cx="457200" cy="502920"/>
          </a:xfrm>
          <a:prstGeom prst="down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Implementation and Execution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91840" cy="22402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291840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Python code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3291840" cy="22402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703320"/>
            <a:ext cx="3291840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preprocessing output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0" y="1280160"/>
            <a:ext cx="3291840" cy="22402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1280160"/>
            <a:ext cx="3291840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model execution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23360" y="3703320"/>
            <a:ext cx="3291840" cy="22402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3703320"/>
            <a:ext cx="3291840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evaluation results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7589520" y="1280160"/>
          <a:ext cx="4023360" cy="41148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models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model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/ LIME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294130"/>
            <a:ext cx="3453765" cy="22263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280795"/>
            <a:ext cx="3313430" cy="22453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7610"/>
            <a:ext cx="3291205" cy="22002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692525"/>
            <a:ext cx="3453130" cy="2245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Machine Learning Models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280160"/>
          <a:ext cx="11064240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5760720"/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comparison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interpretable reference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tree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Rule-based, easy to read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Bagged trees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variance of one tree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tabular-data baseline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categorical features directly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use the same data splits and metrics, so the hybrid model is compared against the same baselines.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Hybrid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42976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6766560" cy="429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architecture diagram once the hybrid model is implemented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373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documented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28600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models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their outputs are combined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validation setup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evaluating this approach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the five baselines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" y="1645285"/>
            <a:ext cx="7007225" cy="4632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280160"/>
          <a:ext cx="11064240" cy="3712464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  <a:gridCol w="1645920"/>
                <a:gridCol w="1645920"/>
                <a:gridCol w="1645920"/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Hybrid Model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to be written after the results are generated. Results will be reported per dataset.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Execution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(to confirm)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42976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6766560" cy="429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running dashboard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373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286000"/>
            <a:ext cx="393192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prediction explanations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Loan-risk insights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455" y="1647190"/>
            <a:ext cx="7200900" cy="42983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global importance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features influence predictions most across all applicants.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2801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LIME: individual predictions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3736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one applicant was classified as high or low risk.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394960" cy="329184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539496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plot (insert if available)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743200"/>
            <a:ext cx="5394960" cy="329184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2743200"/>
            <a:ext cx="539496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explanation (insert if available)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715260"/>
            <a:ext cx="5127625" cy="342836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45" y="2743200"/>
            <a:ext cx="53949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and Research Paper Progress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GitHub URL]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0" cy="210312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66928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directory structure (paste from repository)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5669280" cy="192024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114800"/>
            <a:ext cx="566928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recent commits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583680" y="1280160"/>
          <a:ext cx="5029200" cy="4279392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section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/ results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28800"/>
            <a:ext cx="6464300" cy="45789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Limitations and Future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3035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 verified items]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2801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83080"/>
            <a:ext cx="53035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cover only the three public datasets. Hybrid model, evaluation and dashboard are still being finalised.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implementation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51960"/>
            <a:ext cx="53035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 items still in progress]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7490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4251960"/>
            <a:ext cx="530352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all metrics, finish the hybrid model and dashboard, complete the paper, run the final evaluation.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698480" cy="2926080"/>
          </a:xfrm>
          <a:prstGeom prst="rect">
            <a:avLst/>
          </a:prstGeom>
          <a:solidFill>
            <a:srgbClr val="12305A"/>
          </a:solidFill>
          <a:ln w="12700">
            <a:solidFill>
              <a:srgbClr val="3E5C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1069848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references from the Review-2 presentation here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H Review">
  <a:themeElements>
    <a:clrScheme name="KLH Review">
      <a:dk1>
        <a:srgbClr val="0B1F3A"/>
      </a:dk1>
      <a:lt1>
        <a:srgbClr val="FFFFFF"/>
      </a:lt1>
      <a:dk2>
        <a:srgbClr val="1D4ED8"/>
      </a:dk2>
      <a:lt2>
        <a:srgbClr val="EEF5FA"/>
      </a:lt2>
      <a:accent1>
        <a:srgbClr val="1D4ED8"/>
      </a:accent1>
      <a:accent2>
        <a:srgbClr val="0891B2"/>
      </a:accent2>
      <a:accent3>
        <a:srgbClr val="0B1F3A"/>
      </a:accent3>
      <a:accent4>
        <a:srgbClr val="5B6B82"/>
      </a:accent4>
      <a:accent5>
        <a:srgbClr val="B45309"/>
      </a:accent5>
      <a:accent6>
        <a:srgbClr val="16A34A"/>
      </a:accent6>
      <a:hlink>
        <a:srgbClr val="1D4ED8"/>
      </a:hlink>
      <a:folHlink>
        <a:srgbClr val="5B6B82"/>
      </a:folHlink>
    </a:clrScheme>
    <a:fontScheme name="KLH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LH Review">
  <a:themeElements>
    <a:clrScheme name="KLH Review">
      <a:dk1>
        <a:srgbClr val="0B1F3A"/>
      </a:dk1>
      <a:lt1>
        <a:srgbClr val="FFFFFF"/>
      </a:lt1>
      <a:dk2>
        <a:srgbClr val="1D4ED8"/>
      </a:dk2>
      <a:lt2>
        <a:srgbClr val="EEF5FA"/>
      </a:lt2>
      <a:accent1>
        <a:srgbClr val="1D4ED8"/>
      </a:accent1>
      <a:accent2>
        <a:srgbClr val="0891B2"/>
      </a:accent2>
      <a:accent3>
        <a:srgbClr val="0B1F3A"/>
      </a:accent3>
      <a:accent4>
        <a:srgbClr val="5B6B82"/>
      </a:accent4>
      <a:accent5>
        <a:srgbClr val="B45309"/>
      </a:accent5>
      <a:accent6>
        <a:srgbClr val="16A34A"/>
      </a:accent6>
      <a:hlink>
        <a:srgbClr val="1D4ED8"/>
      </a:hlink>
      <a:folHlink>
        <a:srgbClr val="5B6B82"/>
      </a:folHlink>
    </a:clrScheme>
    <a:fontScheme name="KLH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5600</Words>
  <Application>WPS Sheets</Application>
  <PresentationFormat>On-screen Show (16:9)</PresentationFormat>
  <Paragraphs>454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苹方-简</vt:lpstr>
      <vt:lpstr>Microsoft YaHei</vt:lpstr>
      <vt:lpstr>汉仪旗黑</vt:lpstr>
      <vt:lpstr>Arial Unicode MS</vt:lpstr>
      <vt:lpstr>宋体-简</vt:lpstr>
      <vt:lpstr>KLH Review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Review-3</dc:title>
  <dc:creator>PptxGenJS</dc:creator>
  <dc:subject>PptxGenJS Presentation</dc:subject>
  <cp:lastModifiedBy>Bhavya Bandarupalli</cp:lastModifiedBy>
  <cp:revision>2</cp:revision>
  <dcterms:created xsi:type="dcterms:W3CDTF">2026-10-29T03:54:49Z</dcterms:created>
  <dcterms:modified xsi:type="dcterms:W3CDTF">2026-10-29T03:54:49Z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18D402A910D75FA489C3E26A21BCDCC6_42</vt:lpwstr>
  </property>
</Properties>
</file>